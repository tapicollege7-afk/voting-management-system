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75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slide1_green_them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E:\Minor project\docs\tapi_logo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"/>
            <a:ext cx="1234440" cy="1325880"/>
          </a:xfrm>
          <a:prstGeom prst="rect">
            <a:avLst/>
          </a:prstGeom>
        </p:spPr>
      </p:pic>
      <p:pic>
        <p:nvPicPr>
          <p:cNvPr id="4" name="Image 2" descr="E:\Minor project\docs\founder_portr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109728"/>
            <a:ext cx="1188720" cy="1371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03120" y="1097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By: Shree Tapi Brahmcharyashram Sabha, Surat.</a:t>
            </a:r>
            <a:endParaRPr lang="en-US" sz="950" dirty="0"/>
          </a:p>
        </p:txBody>
      </p:sp>
      <p:sp>
        <p:nvSpPr>
          <p:cNvPr id="6" name="Text 1"/>
          <p:cNvSpPr/>
          <p:nvPr/>
        </p:nvSpPr>
        <p:spPr>
          <a:xfrm>
            <a:off x="2103120" y="31089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 DIPLOMA ENGINEERING COLLEGE</a:t>
            </a:r>
            <a:endParaRPr lang="en-US" sz="2100" dirty="0"/>
          </a:p>
        </p:txBody>
      </p:sp>
      <p:sp>
        <p:nvSpPr>
          <p:cNvPr id="7" name="Shape 2"/>
          <p:cNvSpPr/>
          <p:nvPr/>
        </p:nvSpPr>
        <p:spPr>
          <a:xfrm>
            <a:off x="2834640" y="713232"/>
            <a:ext cx="6492240" cy="219456"/>
          </a:xfrm>
          <a:prstGeom prst="rect">
            <a:avLst/>
          </a:prstGeom>
          <a:solidFill>
            <a:srgbClr val="FFF7ED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834640" y="713232"/>
            <a:ext cx="6492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: Shree Tapi Brahmcharyashram Sabha College of Diploma Engineering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2103120" y="96012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AICTE New Delhi &amp; Affiliated to GTU Ahmedabad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2103120" y="117957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Accredited by N.B.A. (Mechanical &amp; Computer) </a:t>
            </a: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(National Board of Accreditation, New Delhi.)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0" y="1481328"/>
            <a:ext cx="12191695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pic>
        <p:nvPicPr>
          <p:cNvPr id="12" name="Image 3" descr="E:\Minor project\docs\tapi_logo_la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691640"/>
            <a:ext cx="1508760" cy="1600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23160" y="1719072"/>
            <a:ext cx="8961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VOTING &amp;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ELECTION MANAGEMENT SYSTEM</a:t>
            </a:r>
            <a:endParaRPr lang="en-US" sz="2700" dirty="0"/>
          </a:p>
        </p:txBody>
      </p:sp>
      <p:sp>
        <p:nvSpPr>
          <p:cNvPr id="14" name="Text 8"/>
          <p:cNvSpPr/>
          <p:nvPr/>
        </p:nvSpPr>
        <p:spPr>
          <a:xfrm>
            <a:off x="2450592" y="28529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- DI05000341  |  Seminar - 3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31520" y="338328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31520" y="3520440"/>
            <a:ext cx="109728" cy="1828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1"/>
          <p:cNvSpPr/>
          <p:nvPr/>
        </p:nvSpPr>
        <p:spPr>
          <a:xfrm>
            <a:off x="987552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Detail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87552" y="40233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Tapi Diploma Engineering College</a:t>
            </a:r>
            <a:endParaRPr lang="en-US" sz="11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Department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343400" y="338328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343400" y="3520440"/>
            <a:ext cx="109728" cy="1965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5"/>
          <p:cNvSpPr/>
          <p:nvPr/>
        </p:nvSpPr>
        <p:spPr>
          <a:xfrm>
            <a:off x="4599432" y="34930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Detail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99432" y="38039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: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99432" y="40690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246470307079 - Patel Krish</a:t>
            </a:r>
            <a:endParaRPr lang="en-US" sz="9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246470307082 - Patel Neev</a:t>
            </a:r>
            <a:endParaRPr lang="en-US" sz="9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246470307090 - Patil Sumit</a:t>
            </a:r>
            <a:endParaRPr lang="en-US" sz="9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246470307091 - Patolia Krrish</a:t>
            </a:r>
            <a:endParaRPr lang="en-US" sz="9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246470307116 - Tambakhe Kautuk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8275320" y="3383280"/>
            <a:ext cx="3200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75320" y="3520440"/>
            <a:ext cx="109728" cy="18288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Text 20"/>
          <p:cNvSpPr/>
          <p:nvPr/>
        </p:nvSpPr>
        <p:spPr>
          <a:xfrm>
            <a:off x="8531352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Detail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531352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</a:t>
            </a:r>
            <a:endParaRPr lang="en-US" sz="11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Presentation </a:t>
            </a:r>
            <a:r>
              <a:rPr lang="en-US" sz="110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"To mould technocrat in the field of computer engineering with innovation skills, moral values and societal concerns."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6263640"/>
            <a:ext cx="1127455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Diploma Engineering College | Computer Department | Minor Project Seminar - 2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10515600" y="6355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Index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 Minor Project Seminar-3 instruction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31520" y="1261872"/>
            <a:ext cx="5166360" cy="694944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389888"/>
            <a:ext cx="438912" cy="4389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17320" y="138988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 &amp; Institutional Scope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261872"/>
            <a:ext cx="5166360" cy="69494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389888"/>
            <a:ext cx="438912" cy="43891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95160" y="138988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Core Architecture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2121408"/>
            <a:ext cx="5166360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2249424"/>
            <a:ext cx="438912" cy="43891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17320" y="224942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(UML Diagrams)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2121408"/>
            <a:ext cx="516636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2249424"/>
            <a:ext cx="438912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95160" y="224942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Technologies &amp; Toolchain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2980944"/>
            <a:ext cx="5166360" cy="694944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3108960"/>
            <a:ext cx="438912" cy="4389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17320" y="3108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Infrastructure &amp; Host Assembly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980944"/>
            <a:ext cx="5166360" cy="69494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6520" y="3108960"/>
            <a:ext cx="438912" cy="43891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95160" y="3108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Implementation Across Tiers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" y="3840480"/>
            <a:ext cx="5166360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3968496"/>
            <a:ext cx="438912" cy="43891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2" name="Text 29"/>
          <p:cNvSpPr/>
          <p:nvPr/>
        </p:nvSpPr>
        <p:spPr>
          <a:xfrm>
            <a:off x="868680" y="3968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17320" y="396849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Methodology &amp; Quality Gates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09360" y="3840480"/>
            <a:ext cx="516636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46520" y="3968496"/>
            <a:ext cx="438912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3"/>
          <p:cNvSpPr/>
          <p:nvPr/>
        </p:nvSpPr>
        <p:spPr>
          <a:xfrm>
            <a:off x="6446520" y="3968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95160" y="396849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Test Case Design (Table 1: Part 1 &amp; 2)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31520" y="4700016"/>
            <a:ext cx="5166360" cy="694944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68680" y="4828032"/>
            <a:ext cx="438912" cy="4389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0" name="Text 37"/>
          <p:cNvSpPr/>
          <p:nvPr/>
        </p:nvSpPr>
        <p:spPr>
          <a:xfrm>
            <a:off x="868680" y="4828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417320" y="482803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Report &amp; Bug Audit Log (Table 2)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09360" y="4700016"/>
            <a:ext cx="5166360" cy="69494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46520" y="4828032"/>
            <a:ext cx="438912" cy="43891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44" name="Text 41"/>
          <p:cNvSpPr/>
          <p:nvPr/>
        </p:nvSpPr>
        <p:spPr>
          <a:xfrm>
            <a:off x="6446520" y="4828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995160" y="482803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Testing, PWA &amp; Resiliency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31520" y="5559552"/>
            <a:ext cx="5166360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8680" y="5687568"/>
            <a:ext cx="438912" cy="43891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8" name="Text 45"/>
          <p:cNvSpPr/>
          <p:nvPr/>
        </p:nvSpPr>
        <p:spPr>
          <a:xfrm>
            <a:off x="868680" y="5687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417320" y="568756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Demonstration &amp; Role Journeys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309360" y="5559552"/>
            <a:ext cx="516636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46520" y="5687568"/>
            <a:ext cx="438912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2" name="Text 49"/>
          <p:cNvSpPr/>
          <p:nvPr/>
        </p:nvSpPr>
        <p:spPr>
          <a:xfrm>
            <a:off x="6446520" y="5687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995160" y="568756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Proof, SLAs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-- Use Case Model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2.5 Actor Boundary &amp; Security Inclusions (&lt;&lt;include&gt;&gt; / &lt;&lt;extend&gt;&gt;)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4DAB65-303D-0454-6D60-182E1B640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14782"/>
            <a:ext cx="9883997" cy="5006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-- Sequence Diagram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Message Exchange: Race Condition Defense &amp; Cryptographic Sealing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8B731-A9F7-C813-C498-4B2DADD09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70" y="1088136"/>
            <a:ext cx="9692193" cy="4890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-- E-R Schema Model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Schemas, Cardinalities &amp; Secret Ballot Decoupling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CA5DE5-D5C5-1EF8-9CA1-6A41717AA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6" y="1302054"/>
            <a:ext cx="9876376" cy="4701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-- DFD Level 0 (Context)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System Boundary, External Entities &amp; Information Pipelines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993B5-A683-987B-BFDB-2BF1E42B9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6" y="1324916"/>
            <a:ext cx="9845893" cy="4656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/ Architecture -- DFD Level 1 (Decomposition)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Sub-Process Architecture (1.0 to 6.0) &amp; Direct Data Store Access (D1 to D5)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A691C-2355-EA8C-2FCD-AEAFE0492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36" y="1290623"/>
            <a:ext cx="9807790" cy="47248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Technologies &amp; Engineering Toolchain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Architecture, Version Specifications &amp; Engineering Rationale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474720" cy="24231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 &amp; Client Stack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19.2 + Vite 8.2 Single Page Application.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role portals (Voter, Candidate, Admin).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client-side feedback &amp; live modals.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full-page browser refreshes.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474720" cy="2423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Controller &amp; Runtime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167335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v20+ with Express REST framework.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Asynchronous, event-driven request pipeline.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route-level security middleware.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origin protection &amp; body parsing.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3474720" cy="24231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Persistence Layer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02752" y="167335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cloud document database.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v9.9 Object Data Modeling (ODM).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in-memory fallback proxy.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 during network partitions.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347472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401421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Email &amp; Verification Engine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32511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v9.0.5 + Google SMTP Gateway.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6-digit numeric OTP generation.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expiry window &amp; rate limiting.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transport with zero credential leaks.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4343400" y="3886200"/>
            <a:ext cx="3474720" cy="24231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7992" y="401421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Engine &amp; Sealing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07992" y="432511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one-way hashing for tamper seals.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64-hex non-repudiable ballot audit digests.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Caesar Cipher (k=3) credential protection.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audit receipt validation.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138160" y="3886200"/>
            <a:ext cx="3474720" cy="2423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02752" y="401421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02752" y="4325112"/>
            <a:ext cx="31455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offline cache (v400).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on Android, iOS, Windows, macOS.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Manifest with custom icons.</a:t>
            </a:r>
            <a:endParaRPr lang="en-US" sz="92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 for mobile and desktop.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Hardware Infrastructure &amp; Host Assembly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Compute Specifications, Client Device Ecosystem &amp; High Availability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474720" cy="49377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Production Server Compute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vCPU (x86-64 / ARM64 cloud compute tier).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 High-Speed DDR4 / ECC Server RAM.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GB NVMe SSD for fast persistence logging.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 Network Interface Card (NIC) bandwidth.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Node.js production service daemon.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474720" cy="4937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Ecosystem &amp; Responsiveness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responsive viewports (360px to 4K).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smartphones (Android 8.0+, iOS 13+).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workstation terminals (Chrome, Edge, Safari).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Touch-optimized 6-digit auto-advancing OTP fields.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Ultra-low footprint (&lt; 400 KB gzip bundle).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3474720" cy="49377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&amp; Network Resilience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0275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MongoDB Atlas memory fallback.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DB failover in &lt; 25 milliseconds.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vote payloads committed without loss.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v400 caches essential static assets.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reconciliation on reconnect.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Implementation Across Architectural Tiers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Organization, Golden Source Build Pipeline &amp; System Hardening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474720" cy="49377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Client Architecture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React SPA shell in /frontend-website.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role routing without page reloads.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localStorage session authentication cache.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In-modal error feedback with glowing red borders.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cryptographic audit ledger verification view.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474720" cy="4937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REST API &amp; Controllers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Express router implementation in server.js.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controller handlers in controllers/ directory.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MongoDB Atlas + memory DAO proxy.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concurrency lock blocking race conditions.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middleware input boundary validation.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3474720" cy="49377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Source Build Pipeline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0275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single-command build via scripts/build.js.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production minification and bundle hash syncing.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test harness running 67 automated QA tests.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cache version synchronization (v400).</a:t>
            </a:r>
            <a:endParaRPr lang="en-US" sz="10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and public asset mirroring for GitHub Pages.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Methodology &amp; Quality Assurance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Verification Strategy, QA Procedures &amp; Security Hardening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303520" cy="24231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Verification Strategy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49743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Unit tests for cryptographic ciphers &amp; ODM.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Integration tests for REST APIs &amp; 2FA email.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System-level end-to-end PWA verification.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regression protection across all builds.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263640" y="1234440"/>
            <a:ext cx="5303520" cy="2423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136245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&amp; Functional Testing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28232" y="1673352"/>
            <a:ext cx="49743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validation for voter registration &amp; logins.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complexity &amp; length bounds (&lt; 5 chars rejected).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expiration and rate-limiting enforcement gates.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Campaign Command Center 2FA lock.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303520" cy="24231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01421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Gates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4325112"/>
            <a:ext cx="49743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test runner in /tests/run_all_tests.js.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tolerance: 100% green required to release.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67 tests executed in under 3.5 seconds.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database seeding and teardown cleanup.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263640" y="3886200"/>
            <a:ext cx="530352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4014216"/>
            <a:ext cx="49743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Security Hardening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8232" y="4325112"/>
            <a:ext cx="49743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double-voting race condition prevention.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ballot tampering &amp; bit-flip detection.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ballot voter-vote cryptographic decoupling.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admin account ADM-9999 deletion defense.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 -- High-Risk Areas (Table 1: Part 1)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Race Conditions, Tamper Seals, Fuzzing &amp; Privilege Defense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52120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TC ID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DESCRIPTION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STEPS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DATA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ACTUAL RESULTS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TC-HR-01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Concurrent Double-Voting Race Condition Prevention Under High Load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Authenticate voter.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Fire 5 parallel asynchronous POSTs to /api/vote in same tick via Promise.all.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Verify DB ledger.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voter_id: RACE-VOT-9821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election_id: 101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threads: 5 concurrent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Exactly 1 request returns HTTP 201 Created. Remaining 4 return HTTP 400 (already_voted: true). Total votes = 1.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Thread 1 accepted in 14ms (HTTP 201). Threads 2-5 blocked synchronously in 2ms (HTTP 400). Double-voting rejected.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TC-HR-02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Cryptographic Ballot Seal Hash Tamper Detection &amp; Avalanche Invalidation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Compute SHA-256 seal from ballot fields.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Flip single candidate bit (cand_1 -&gt; cand_2).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Query /api/vote/audit/:hash.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voter_id: VOT-001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cand_1 -&gt; cand_2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Valid: 64-hex SHA-256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Fake: 0000...0000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Authentic hash returns HTTP 200 with verified seal. Tampered payload causes avalanche divergence. Fake hash returns HTTP 404.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Authentic seal verified (HTTP 200). 61/64 hex characters altered on bit-flip. Query with fake hash returned HTTP 404.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TC-HR-03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6-Digit OTP Brute-Force, Token Fuzzing &amp; Token Replay Rejection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Request voter OTP.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Submit fuzzed payloads (000000, 999999, RANDOM).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Submit valid OTP once.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4. Replay exact same OTP.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Endpoint: /api/auth/otp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Fuzzed: [000000, 999999]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Legitimate: 277971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All fuzzed tokens return HTTP 400. Consumed token rejected on replay. Modal displays in-modal error with red glowing border.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All fuzzed tokens rejected with HTTP 400. Replayed token rejected. In-modal error banner &amp; red glowing border displayed.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TC-HR-04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Candidate Command Center 2FA Email OTP Enforcement Gate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Submit credentials to /api/candidates/login.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Attempt direct Command Center access.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Submit wrong OTP 000000.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4. Enter authentic OTP.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candidate_id: cand_1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Wrong OTP: 000000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Endpoint: /api/candidates/verify-login-otp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Login endpoint dispatches OTP via Google SMTP and returns requires_verification: true. Access strictly locked until code verified.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Direct access blocked. Wrong OTP returned HTTP 400 with in-modal error. Command Center unlocked only after email OTP.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TC-HR-05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Master Super-Admin ADM-9999 Deletion Attack Defense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Issue HTTP DELETE targeting ADM-9999.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Verify HTTP response status code, body message, and database record state.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Target: /api/admin/voters/ADM-9999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Method: DELETE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Account: Root Admin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Request intercepted by kernel guard; returns HTTP 403 Forbidden ("ADM-9999 cannot be deleted"). Account remains operational.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HTTP 403 Forbidden returned. Message: "System Primary Administrator (ADM-9999) cannot be deleted." Account active in DB.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 -- High-Risk Areas (Table 1: Part 2)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 Prevention, Secret Ballot Decoupling &amp; Failover Reliability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52120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TC ID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DESCRIPTION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STEPS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DATA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ACTUAL RESULTS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TC-HR-06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Administrative Credential Scraper Defense &amp; Public Roster Sanitization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Call GET /api/admin/stats.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Extract voters array from response.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Search array for voter_id === "ADM-9999" or admin emails.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Endpoint: /api/admin/stats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Search Key: ADM-9999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Voters in DB: 15+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HTTP 200 returned with voter roster, but ADM-9999 is strictly sanitized and omitted from public list to prevent credential harvesting.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HTTP 200 returned. Roster parsed and scanned across all records. Zero instances of ADM-9999 found (adminExposed === false).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TC-HR-07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Secret Ballot Anonymity &amp; Public Audit Ledger Decoupling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Cast valid ballot for test voter.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Retrieve SHA-256 seal from voter status.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Query /api/vote/audit/:hash.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4. Inspect audit object properties.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voter_id: RACE-VOT-9821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election_id: 101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Payload: SHA-256 seal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Audit response contains only cryptographic seal, timestamp, and election_id. voter_id, name, email, and phone are strictly undefined.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audit.voter_id is undefined; audit.voter_name is undefined; audit.email is undefined. Zero linkability between voter and candidate.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TC-HR-08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Input Boundary Validation &amp; Cipher Overflow Injection Defense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Submit registration with invalid email format.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Submit voter ID shorter than 3 chars ("V").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Submit password &gt; 5 chars.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email: notanemail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voter_id: V (&lt; 3 chars)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password: 25-char string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Validation middleware intercepts payload prior to execution; returns HTTP 400 Bad Request with field error. DB remains uncontacted.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HTTP 400 Bad Request returned. Payload rejected by validateVoterRegistration middleware. Database uncontacted. Cipher protected.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TC-HR-09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Database Outage Resilience &amp; In-Memory Fallback Zero-Downtime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Simulate MongoDB Atlas connection drop.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Verify fallback memory adapter initialization.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Query /api/health and cast test vote.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Primary: MongoDB Atlas (offline)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Fallback: In-Memory Adapter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Seed: database/data.json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System seamlessly shifts to high-speed in-memory persistence layer with zero 500 crashes; maintains full CRUD operations for all routes.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In-memory fallback activated in 22ms. /api/health reported operational status. Full voting lifecycle functioned with 100% availability.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563EB"/>
                          </a:solidFill>
                        </a:rPr>
                        <a:t>TC-HR-10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</a:rPr>
                        <a:t>Temporal Election Lifecycle Guard (Closed Election Vote Blocking)</a:t>
                      </a:r>
                      <a:endParaRPr lang="en-US" sz="78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1. Create test election with status set to "Completed".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2. Attempt to submit valid ballot payload targeting this election ID.</a:t>
                      </a:r>
                      <a:endParaRPr lang="en-US" sz="720" dirty="0"/>
                    </a:p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3. Check DB.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election_id: 999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status: Completed (Polls Closed)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Endpoint: /api/vote</a:t>
                      </a:r>
                      <a:endParaRPr lang="en-US" sz="7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</a:rPr>
                        <a:t>Vote submission rejected with HTTP 400 Bad Request. System enforces that ballots are strictly accepted only when status === "Active".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59669"/>
                          </a:solidFill>
                        </a:rPr>
                        <a:t>HTTP 400 Bad Request returned ("Election is not currently active for voting"). Database verified: zero votes recorded for closed poll.</a:t>
                      </a:r>
                      <a:endParaRPr lang="en-US" sz="72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Report &amp; Bug Audit Log (Table 2)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of Identified Anomalies and Applied Engineering Fixes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7731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DEFECT ID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DEFECT TITLE &amp; SUMMARY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MODULE / SUBSYSTEM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RESOLUTION STATUS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Persistent "+ Register Candidate" Button in Admin Console Due to Stale Bundle Cache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Admin Console / Build Pipeline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OTP Verification Error Message Rendered Hidden Behind Dark Modal Backdrop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Voter &amp; Candidate Auth Modals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DEF-003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Unrestricted Random OTP Code Acceptance (Missing Strict Verification Enforcement)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Authentication &amp; 2FA Engine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Urgent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DEF-004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Candidate Direct Command Center Access Without Mandatory Email 2FA Verification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Candidate Portal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Urgent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DEF-005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Distracting Celebratory Confetti Animation on Voter Login &amp; Ballot Submission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Voter Portal / UI Theme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DEF-006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Potential Concurrency Race Condition on Rapid Parallel Ballot Submissions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Voting Engine / REST API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Urgent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DEF-007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Root Super-Administrator ADM-9999 Exposed to API Deletion Attacks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Admin API Security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Critical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</a:rPr>
                        <a:t>Urgent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</a:rPr>
                        <a:t>DEF-008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Public Exposure of Master Administrative Account in Voter Statistics Rosters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Admin Stats / Public API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High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59669"/>
                          </a:solidFill>
                        </a:rPr>
                        <a:t>Closed (Verified)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779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METRICS AUDIT SUMMARY: 8/8 Defects Closed (100% Resolution Rate) | Zero Critical Defects Remaining | Zero Regressions across 67 Tests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 &amp; Production Resiliency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Test Suite Compilation, PWA Service Worker &amp; SPA Fallbacks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474720" cy="49377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3-Tier Automated QA Harness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test runner (tests/run_all_tests.js) orchestrates 67 tests in under 3.5 seconds.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Unit Suite: 27/27 Passed (Ciphers, password hash verification, schema validation, DB functions).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Integration Suite: 31/31 Passed (Auth flow, voting engine, elections, admin API, + 8 High-Risk Security tests).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System Suite: 9/9 Passed (Server health, PWA service worker, manifest, SPA routing, 404 handler).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474720" cy="4937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Service Worker &amp; Offline Testing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Scope Service Worker: sw.js served from root / scope with proper JavaScript Content-Type headers.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Version 400: Explicit cache bumping purges stale bundles and prevents white-screen rendering.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Manifest: manifest.json verified with name, standalone display mode, and high-res icons.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Fallback: Essential static shell cached locally for intermittent network disconnection recovery.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3474720" cy="49377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 Application Routing &amp; API Guards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0275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Redirects: Verified GET /admin redirects cleanly to /#admin via HTTP 302.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Portal Routing: GET /candidate redirects cleanly to /#candidate.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Ledger Routing: GET /audit redirects cleanly to /#audit.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Error Boundary: Unknown endpoints return HTTP 404 JSON ("API endpoint not found.") without crashing.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-- User Journey &amp; Role Walkthroughs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Workflow Execution: Voter, Candidate &amp; Administrator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474720" cy="49377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User Journey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Voter Enters Credentials: Uses institutional email and password to log in.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Real-Time 2FA OTP: Dispatched to real personal Gmail inbox with 10-minute expiry.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6-Digit Auto-Advancing Input: Enters code; system highlights red border if wrong OTP entered.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Candidate Review: Explores active elections, candidate affiliations, and manifestos.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Cryptographic Ballot Casting: Clicks "Vote", confirms choice, and receives sealed SHA-256 receipt.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Double-Vote Lock: Future attempts to vote in same poll locked with immutable receipt banner.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474720" cy="4937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User Journey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Self-Nomination: Candidate submits election affiliation, manifesto, and verified email.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Registration OTP Verification: 6-digit code sent to candidate email to confirm legitimacy.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Official Credential Ticket: Server issues candidate credentials upon OTP verification.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Command Center Sign-In: Candidate logs in with Candidate ID and password.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Mandatory 2FA Gate: Second 6-digit email OTP required before Command Center unlocks.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Campaign Analytics: Monitors real-time votes received, voter turnout, and campaign stats.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138160" y="1234440"/>
            <a:ext cx="3474720" cy="49377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362456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Journey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02752" y="1673352"/>
            <a:ext cx="3145536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Primary Admin Authentication: Master administrator logs in securely via ADM-9999.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Real-Time Analytics: Inspects total voters registered, ballots cast, and live percentages.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Poll Lifecycle Management: Creates new elections; toggles status between Scheduled, Active, Completed.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Candidate Roster Oversight: Inspects verified registered candidates per election.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Protected Infrastructure: Master account ADM-9999 protected from deletion attempts (HTTP 403).</a:t>
            </a:r>
            <a:endParaRPr lang="en-US" sz="9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Audit Report Export: One-click export of verified election results in CSV format.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Proof, Performance Metrics &amp; SLAs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SLAs, Concurrency Stress Resilience &amp; Standards Compliance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23444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99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67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Green Quality Gates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8328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23444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399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ms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38328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Sealing Latency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 + Caesar Cipher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2344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399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ms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21792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Conflict Lock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Voting Rejection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052560" y="12344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123444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9052560" y="13990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05256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Leakage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5256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Open Critical Defects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STANDARD / SECURITY FRAMEWORK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COMPLIANCE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AUDIT EVIDENCE &amp; RIGOROUS VERIFICATION MECHANISM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IEEE 730 Software SQA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100% Compliant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Complete 3-tier testing (Unit, Integration, System) with automated regression quality gates executed via npm test.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OWASP Top 10 Web Security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Zero Vulnerabilities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Input sanitization regex, anti-tampering SHA-256 seal digests, 2FA OTP out-of-band email delivery, and rate checks.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NIST SP 800-63B Authentication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Level 2 Compliant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Multi-factor authentication (passwords + single-use out-of-band email OTP codes dispatched via Google SMTP).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VVSG E-Voting Guidelines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Fully Verified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Secret ballot preservation: voter identity is strictly decoupled from public audit ledger records (/api/vote/audit/:hash).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inor project\docs\clean_seminar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Research Scope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Summary, Architectural Contributions &amp; Future Roadmap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394960" cy="3794760"/>
          </a:xfrm>
          <a:prstGeom prst="rect">
            <a:avLst/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362456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 &amp; Deliverables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1673352"/>
            <a:ext cx="506577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engineered an institutional-grade, zero-trust electronic voting system eliminating paper waste and manual delays.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single-vote ballot integrity via atomic concurrency checking, achieving 100% resistance to double-voting race conditions.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real-time 2FA email OTP verification via Google SMTP API for both electors and candidate command center access.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dual-layer cryptography (SHA-256 seal + Caesar Cipher) enabling public auditability without compromising secret ballot privacy.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100% test pass rate across 67 automated quality gates with zero open critical defects.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217920" y="1234440"/>
            <a:ext cx="5394960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2512" y="1362456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Technological Enhancements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82512" y="1673352"/>
            <a:ext cx="506577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Immutable Merkle Trees: Expanding public audit ledger into a verifiable Merkle Tree for continuous mathematical proof of inclusion.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Hardware Security Modules (Cloud KMS / HSM): Anchoring administrative cryptographic keys in dedicated physical HSM appliances.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Facial Biometric Authentication: Incorporating AI-based facial liveness detection for high-stakes government or enterprise elections.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Decentralized Zero-Knowledge Proofs (ZKP): Implementing zk-SNARKs allowing voters to prove vote validity without revealing choice.</a:t>
            </a:r>
            <a:endParaRPr lang="en-US" sz="98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Multi-Language i18n Localization: Expanding the interface to support regional languages for broader national accessibility.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548640" y="5257800"/>
            <a:ext cx="11091672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IN" sz="185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13" name="Text 10"/>
          <p:cNvSpPr/>
          <p:nvPr/>
        </p:nvSpPr>
        <p:spPr>
          <a:xfrm>
            <a:off x="731520" y="53492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10698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3342</Words>
  <Application>Microsoft Office PowerPoint</Application>
  <PresentationFormat>Widescreen</PresentationFormat>
  <Paragraphs>461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Kautuk Tambakhe</cp:lastModifiedBy>
  <cp:revision>2</cp:revision>
  <dcterms:created xsi:type="dcterms:W3CDTF">2026-09-23T15:03:29Z</dcterms:created>
  <dcterms:modified xsi:type="dcterms:W3CDTF">2026-09-23T15:10:56Z</dcterms:modified>
</cp:coreProperties>
</file>